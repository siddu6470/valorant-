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DM Sans Semi Bold"/>
      <p:regular r:id="rId15"/>
    </p:embeddedFont>
    <p:embeddedFont>
      <p:font typeface="DM Sans Semi Bold"/>
      <p:regular r:id="rId16"/>
    </p:embeddedFont>
    <p:embeddedFont>
      <p:font typeface="DM Sans Semi Bold"/>
      <p:regular r:id="rId17"/>
    </p:embeddedFont>
    <p:embeddedFont>
      <p:font typeface="DM Sans Semi Bold"/>
      <p:regular r:id="rId18"/>
    </p:embeddedFont>
    <p:embeddedFont>
      <p:font typeface="Inter Medium"/>
      <p:regular r:id="rId19"/>
    </p:embeddedFont>
    <p:embeddedFont>
      <p:font typeface="Inter Medium"/>
      <p:regular r:id="rId20"/>
    </p:embeddedFont>
    <p:embeddedFont>
      <p:font typeface="Inter Medium"/>
      <p:regular r:id="rId21"/>
    </p:embeddedFont>
    <p:embeddedFont>
      <p:font typeface="Inter Medium"/>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248489"/>
            <a:ext cx="7556421" cy="2126337"/>
          </a:xfrm>
          <a:prstGeom prst="rect">
            <a:avLst/>
          </a:prstGeom>
          <a:noFill/>
          <a:ln/>
        </p:spPr>
        <p:txBody>
          <a:bodyPr wrap="square" lIns="0" tIns="0" rIns="0" bIns="0" rtlCol="0" anchor="t"/>
          <a:lstStyle/>
          <a:p>
            <a:pPr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AI-Powered Ethical Decision Making Simulations with Mistral</a:t>
            </a:r>
            <a:endParaRPr lang="en-US" sz="4450" dirty="0"/>
          </a:p>
        </p:txBody>
      </p:sp>
      <p:sp>
        <p:nvSpPr>
          <p:cNvPr id="4" name="Text 1"/>
          <p:cNvSpPr/>
          <p:nvPr/>
        </p:nvSpPr>
        <p:spPr>
          <a:xfrm>
            <a:off x="6280190" y="3714988"/>
            <a:ext cx="7556421" cy="3266123"/>
          </a:xfrm>
          <a:prstGeom prst="rect">
            <a:avLst/>
          </a:prstGeom>
          <a:noFill/>
          <a:ln/>
        </p:spPr>
        <p:txBody>
          <a:bodyPr wrap="square" lIns="0" tIns="0" rIns="0" bIns="0" rtlCol="0" anchor="t"/>
          <a:lstStyle/>
          <a:p>
            <a:pPr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In today's complex world, making ethical decisions requires careful consideration of multiple factors and potential consequences. The Ethical Decision-Making Simulations application, powered by Mistral's AI, generates detailed ethical scenarios and explores potential outcomes based on user-provided policy or business questions. It helps users analyze complex dilemmas, anticipate consequences, and make informed, ethical decisions. Designed for policymakers, business leaders, and educators, the tool bridges the gap between theoretical ethics and real-world application.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51253"/>
            <a:ext cx="12197358" cy="708779"/>
          </a:xfrm>
          <a:prstGeom prst="rect">
            <a:avLst/>
          </a:prstGeom>
          <a:noFill/>
          <a:ln/>
        </p:spPr>
        <p:txBody>
          <a:bodyPr wrap="none" lIns="0" tIns="0" rIns="0" bIns="0" rtlCol="0" anchor="t"/>
          <a:lstStyle/>
          <a:p>
            <a:pPr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The Challenge: Navigating Ethical Gray Areas</a:t>
            </a:r>
            <a:endParaRPr lang="en-US" sz="4450" dirty="0"/>
          </a:p>
        </p:txBody>
      </p:sp>
      <p:sp>
        <p:nvSpPr>
          <p:cNvPr id="3" name="Text 1"/>
          <p:cNvSpPr/>
          <p:nvPr/>
        </p:nvSpPr>
        <p:spPr>
          <a:xfrm>
            <a:off x="793790" y="2727008"/>
            <a:ext cx="3249454" cy="354330"/>
          </a:xfrm>
          <a:prstGeom prst="rect">
            <a:avLst/>
          </a:prstGeom>
          <a:noFill/>
          <a:ln/>
        </p:spPr>
        <p:txBody>
          <a:bodyPr wrap="none" lIns="0" tIns="0" rIns="0" bIns="0" rtlCol="0" anchor="t"/>
          <a:lstStyle/>
          <a:p>
            <a:pPr indent="0" marL="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Ambiguity in Guidelines</a:t>
            </a:r>
            <a:endParaRPr lang="en-US" sz="2200" dirty="0"/>
          </a:p>
        </p:txBody>
      </p:sp>
      <p:sp>
        <p:nvSpPr>
          <p:cNvPr id="4" name="Text 2"/>
          <p:cNvSpPr/>
          <p:nvPr/>
        </p:nvSpPr>
        <p:spPr>
          <a:xfrm>
            <a:off x="793790" y="3308152"/>
            <a:ext cx="3978116" cy="2903220"/>
          </a:xfrm>
          <a:prstGeom prst="rect">
            <a:avLst/>
          </a:prstGeom>
          <a:noFill/>
          <a:ln/>
        </p:spPr>
        <p:txBody>
          <a:bodyPr wrap="square" lIns="0" tIns="0" rIns="0" bIns="0" rtlCol="0" anchor="t"/>
          <a:lstStyle/>
          <a:p>
            <a:pPr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Existing ethical guidelines often lack the specificity needed to address emerging technologies and unique situations. This ambiguity can lead to inconsistent interpretations and unintended consequences when applying ethical principles to novel scenarios.</a:t>
            </a:r>
            <a:endParaRPr lang="en-US" sz="1750" dirty="0"/>
          </a:p>
        </p:txBody>
      </p:sp>
      <p:sp>
        <p:nvSpPr>
          <p:cNvPr id="5" name="Text 3"/>
          <p:cNvSpPr/>
          <p:nvPr/>
        </p:nvSpPr>
        <p:spPr>
          <a:xfrm>
            <a:off x="5332928" y="2727008"/>
            <a:ext cx="3005495" cy="354330"/>
          </a:xfrm>
          <a:prstGeom prst="rect">
            <a:avLst/>
          </a:prstGeom>
          <a:noFill/>
          <a:ln/>
        </p:spPr>
        <p:txBody>
          <a:bodyPr wrap="none" lIns="0" tIns="0" rIns="0" bIns="0" rtlCol="0" anchor="t"/>
          <a:lstStyle/>
          <a:p>
            <a:pPr indent="0" marL="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Complexity of Factors</a:t>
            </a:r>
            <a:endParaRPr lang="en-US" sz="2200" dirty="0"/>
          </a:p>
        </p:txBody>
      </p:sp>
      <p:sp>
        <p:nvSpPr>
          <p:cNvPr id="6" name="Text 4"/>
          <p:cNvSpPr/>
          <p:nvPr/>
        </p:nvSpPr>
        <p:spPr>
          <a:xfrm>
            <a:off x="5332928" y="3308152"/>
            <a:ext cx="3978116" cy="3266123"/>
          </a:xfrm>
          <a:prstGeom prst="rect">
            <a:avLst/>
          </a:prstGeom>
          <a:noFill/>
          <a:ln/>
        </p:spPr>
        <p:txBody>
          <a:bodyPr wrap="square" lIns="0" tIns="0" rIns="0" bIns="0" rtlCol="0" anchor="t"/>
          <a:lstStyle/>
          <a:p>
            <a:pPr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Ethical dilemmas frequently involve multiple stakeholders, conflicting values, and intricate interdependencies. Analyzing these interwoven elements and their potential impacts requires a comprehensive understanding of various perspectives and potential trade-offs.</a:t>
            </a:r>
            <a:endParaRPr lang="en-US" sz="1750" dirty="0"/>
          </a:p>
        </p:txBody>
      </p:sp>
      <p:sp>
        <p:nvSpPr>
          <p:cNvPr id="7" name="Text 5"/>
          <p:cNvSpPr/>
          <p:nvPr/>
        </p:nvSpPr>
        <p:spPr>
          <a:xfrm>
            <a:off x="9872067" y="2727008"/>
            <a:ext cx="3676174" cy="354330"/>
          </a:xfrm>
          <a:prstGeom prst="rect">
            <a:avLst/>
          </a:prstGeom>
          <a:noFill/>
          <a:ln/>
        </p:spPr>
        <p:txBody>
          <a:bodyPr wrap="none" lIns="0" tIns="0" rIns="0" bIns="0" rtlCol="0" anchor="t"/>
          <a:lstStyle/>
          <a:p>
            <a:pPr indent="0" marL="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Unforeseen Consequences</a:t>
            </a:r>
            <a:endParaRPr lang="en-US" sz="2200" dirty="0"/>
          </a:p>
        </p:txBody>
      </p:sp>
      <p:sp>
        <p:nvSpPr>
          <p:cNvPr id="8" name="Text 6"/>
          <p:cNvSpPr/>
          <p:nvPr/>
        </p:nvSpPr>
        <p:spPr>
          <a:xfrm>
            <a:off x="9872067" y="3308152"/>
            <a:ext cx="3978116" cy="3266123"/>
          </a:xfrm>
          <a:prstGeom prst="rect">
            <a:avLst/>
          </a:prstGeom>
          <a:noFill/>
          <a:ln/>
        </p:spPr>
        <p:txBody>
          <a:bodyPr wrap="square" lIns="0" tIns="0" rIns="0" bIns="0" rtlCol="0" anchor="t"/>
          <a:lstStyle/>
          <a:p>
            <a:pPr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Predicting the long-term effects of decisions is challenging, particularly in rapidly evolving technological landscapes. Decisions made with good intentions can inadvertently produce adverse outcomes if potential risks and unintended impacts are not thoroughly assessed.</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28650" y="1013936"/>
            <a:ext cx="7886700" cy="1122759"/>
          </a:xfrm>
          <a:prstGeom prst="rect">
            <a:avLst/>
          </a:prstGeom>
          <a:noFill/>
          <a:ln/>
        </p:spPr>
        <p:txBody>
          <a:bodyPr wrap="square" lIns="0" tIns="0" rIns="0" bIns="0" rtlCol="0" anchor="t"/>
          <a:lstStyle/>
          <a:p>
            <a:pPr indent="0" marL="0">
              <a:lnSpc>
                <a:spcPts val="4400"/>
              </a:lnSpc>
              <a:buNone/>
            </a:pPr>
            <a:r>
              <a:rPr lang="en-US" sz="3500" dirty="0">
                <a:solidFill>
                  <a:srgbClr val="030303"/>
                </a:solidFill>
                <a:latin typeface="DM Sans Semi Bold" pitchFamily="34" charset="0"/>
                <a:ea typeface="DM Sans Semi Bold" pitchFamily="34" charset="-122"/>
                <a:cs typeface="DM Sans Semi Bold" pitchFamily="34" charset="-120"/>
              </a:rPr>
              <a:t>Introducing the Ethical Decision-Making Simulations App</a:t>
            </a:r>
            <a:endParaRPr lang="en-US" sz="3500" dirty="0"/>
          </a:p>
        </p:txBody>
      </p:sp>
      <p:sp>
        <p:nvSpPr>
          <p:cNvPr id="4" name="Shape 1"/>
          <p:cNvSpPr/>
          <p:nvPr/>
        </p:nvSpPr>
        <p:spPr>
          <a:xfrm>
            <a:off x="628650" y="2608183"/>
            <a:ext cx="404098" cy="404098"/>
          </a:xfrm>
          <a:prstGeom prst="roundRect">
            <a:avLst>
              <a:gd name="adj" fmla="val 6668"/>
            </a:avLst>
          </a:prstGeom>
          <a:solidFill>
            <a:srgbClr val="F2EEEE"/>
          </a:solidFill>
          <a:ln/>
        </p:spPr>
      </p:sp>
      <p:sp>
        <p:nvSpPr>
          <p:cNvPr id="5" name="Text 2"/>
          <p:cNvSpPr/>
          <p:nvPr/>
        </p:nvSpPr>
        <p:spPr>
          <a:xfrm>
            <a:off x="783788" y="2675453"/>
            <a:ext cx="93821" cy="269438"/>
          </a:xfrm>
          <a:prstGeom prst="rect">
            <a:avLst/>
          </a:prstGeom>
          <a:noFill/>
          <a:ln/>
        </p:spPr>
        <p:txBody>
          <a:bodyPr wrap="none" lIns="0" tIns="0" rIns="0" bIns="0" rtlCol="0" anchor="t"/>
          <a:lstStyle/>
          <a:p>
            <a:pPr algn="ctr" indent="0" marL="0">
              <a:lnSpc>
                <a:spcPts val="2100"/>
              </a:lnSpc>
              <a:buNone/>
            </a:pPr>
            <a:r>
              <a:rPr lang="en-US" sz="2100" dirty="0">
                <a:solidFill>
                  <a:srgbClr val="464646"/>
                </a:solidFill>
                <a:latin typeface="DM Sans Semi Bold" pitchFamily="34" charset="0"/>
                <a:ea typeface="DM Sans Semi Bold" pitchFamily="34" charset="-122"/>
                <a:cs typeface="DM Sans Semi Bold" pitchFamily="34" charset="-120"/>
              </a:rPr>
              <a:t>1</a:t>
            </a:r>
            <a:endParaRPr lang="en-US" sz="2100" dirty="0"/>
          </a:p>
        </p:txBody>
      </p:sp>
      <p:sp>
        <p:nvSpPr>
          <p:cNvPr id="6" name="Text 3"/>
          <p:cNvSpPr/>
          <p:nvPr/>
        </p:nvSpPr>
        <p:spPr>
          <a:xfrm>
            <a:off x="1212294" y="2608183"/>
            <a:ext cx="2245400" cy="280630"/>
          </a:xfrm>
          <a:prstGeom prst="rect">
            <a:avLst/>
          </a:prstGeom>
          <a:noFill/>
          <a:ln/>
        </p:spPr>
        <p:txBody>
          <a:bodyPr wrap="none" lIns="0" tIns="0" rIns="0" bIns="0" rtlCol="0" anchor="t"/>
          <a:lstStyle/>
          <a:p>
            <a:pPr indent="0" marL="0">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Scenario Generation</a:t>
            </a:r>
            <a:endParaRPr lang="en-US" sz="1750" dirty="0"/>
          </a:p>
        </p:txBody>
      </p:sp>
      <p:sp>
        <p:nvSpPr>
          <p:cNvPr id="7" name="Text 4"/>
          <p:cNvSpPr/>
          <p:nvPr/>
        </p:nvSpPr>
        <p:spPr>
          <a:xfrm>
            <a:off x="1212294" y="2996565"/>
            <a:ext cx="3269933" cy="2299335"/>
          </a:xfrm>
          <a:prstGeom prst="rect">
            <a:avLst/>
          </a:prstGeom>
          <a:noFill/>
          <a:ln/>
        </p:spPr>
        <p:txBody>
          <a:bodyPr wrap="square" lIns="0" tIns="0" rIns="0" bIns="0" rtlCol="0" anchor="t"/>
          <a:lstStyle/>
          <a:p>
            <a:pPr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The application generates detailed ethical scenarios based on user-defined parameters, policy questions, or business challenges. These scenarios incorporate diverse perspectives, potential conflicts, and relevant contextual factors, providing a realistic foundation for analysis.</a:t>
            </a:r>
            <a:endParaRPr lang="en-US" sz="1400" dirty="0"/>
          </a:p>
        </p:txBody>
      </p:sp>
      <p:sp>
        <p:nvSpPr>
          <p:cNvPr id="8" name="Shape 5"/>
          <p:cNvSpPr/>
          <p:nvPr/>
        </p:nvSpPr>
        <p:spPr>
          <a:xfrm>
            <a:off x="4661773" y="2608183"/>
            <a:ext cx="404098" cy="404098"/>
          </a:xfrm>
          <a:prstGeom prst="roundRect">
            <a:avLst>
              <a:gd name="adj" fmla="val 6668"/>
            </a:avLst>
          </a:prstGeom>
          <a:solidFill>
            <a:srgbClr val="F2EEEE"/>
          </a:solidFill>
          <a:ln/>
        </p:spPr>
      </p:sp>
      <p:sp>
        <p:nvSpPr>
          <p:cNvPr id="9" name="Text 6"/>
          <p:cNvSpPr/>
          <p:nvPr/>
        </p:nvSpPr>
        <p:spPr>
          <a:xfrm>
            <a:off x="4786074" y="2675453"/>
            <a:ext cx="155496" cy="269438"/>
          </a:xfrm>
          <a:prstGeom prst="rect">
            <a:avLst/>
          </a:prstGeom>
          <a:noFill/>
          <a:ln/>
        </p:spPr>
        <p:txBody>
          <a:bodyPr wrap="none" lIns="0" tIns="0" rIns="0" bIns="0" rtlCol="0" anchor="t"/>
          <a:lstStyle/>
          <a:p>
            <a:pPr algn="ctr" indent="0" marL="0">
              <a:lnSpc>
                <a:spcPts val="2100"/>
              </a:lnSpc>
              <a:buNone/>
            </a:pPr>
            <a:r>
              <a:rPr lang="en-US" sz="2100" dirty="0">
                <a:solidFill>
                  <a:srgbClr val="464646"/>
                </a:solidFill>
                <a:latin typeface="DM Sans Semi Bold" pitchFamily="34" charset="0"/>
                <a:ea typeface="DM Sans Semi Bold" pitchFamily="34" charset="-122"/>
                <a:cs typeface="DM Sans Semi Bold" pitchFamily="34" charset="-120"/>
              </a:rPr>
              <a:t>2</a:t>
            </a:r>
            <a:endParaRPr lang="en-US" sz="2100" dirty="0"/>
          </a:p>
        </p:txBody>
      </p:sp>
      <p:sp>
        <p:nvSpPr>
          <p:cNvPr id="10" name="Text 7"/>
          <p:cNvSpPr/>
          <p:nvPr/>
        </p:nvSpPr>
        <p:spPr>
          <a:xfrm>
            <a:off x="5245418" y="2608183"/>
            <a:ext cx="2299335" cy="280630"/>
          </a:xfrm>
          <a:prstGeom prst="rect">
            <a:avLst/>
          </a:prstGeom>
          <a:noFill/>
          <a:ln/>
        </p:spPr>
        <p:txBody>
          <a:bodyPr wrap="none" lIns="0" tIns="0" rIns="0" bIns="0" rtlCol="0" anchor="t"/>
          <a:lstStyle/>
          <a:p>
            <a:pPr indent="0" marL="0">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Outcome Exploration</a:t>
            </a:r>
            <a:endParaRPr lang="en-US" sz="1750" dirty="0"/>
          </a:p>
        </p:txBody>
      </p:sp>
      <p:sp>
        <p:nvSpPr>
          <p:cNvPr id="11" name="Text 8"/>
          <p:cNvSpPr/>
          <p:nvPr/>
        </p:nvSpPr>
        <p:spPr>
          <a:xfrm>
            <a:off x="5245418" y="2996565"/>
            <a:ext cx="3269933" cy="2299335"/>
          </a:xfrm>
          <a:prstGeom prst="rect">
            <a:avLst/>
          </a:prstGeom>
          <a:noFill/>
          <a:ln/>
        </p:spPr>
        <p:txBody>
          <a:bodyPr wrap="square" lIns="0" tIns="0" rIns="0" bIns="0" rtlCol="0" anchor="t"/>
          <a:lstStyle/>
          <a:p>
            <a:pPr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Users can explore potential outcomes and consequences associated with different courses of action. The AI models simulate the cascading effects of decisions, highlighting potential risks, unintended impacts, and ethical trade-offs involved in each option.</a:t>
            </a:r>
            <a:endParaRPr lang="en-US" sz="1400" dirty="0"/>
          </a:p>
        </p:txBody>
      </p:sp>
      <p:sp>
        <p:nvSpPr>
          <p:cNvPr id="12" name="Shape 9"/>
          <p:cNvSpPr/>
          <p:nvPr/>
        </p:nvSpPr>
        <p:spPr>
          <a:xfrm>
            <a:off x="628650" y="5677495"/>
            <a:ext cx="404098" cy="404098"/>
          </a:xfrm>
          <a:prstGeom prst="roundRect">
            <a:avLst>
              <a:gd name="adj" fmla="val 6668"/>
            </a:avLst>
          </a:prstGeom>
          <a:solidFill>
            <a:srgbClr val="F2EEEE"/>
          </a:solidFill>
          <a:ln/>
        </p:spPr>
      </p:sp>
      <p:sp>
        <p:nvSpPr>
          <p:cNvPr id="13" name="Text 10"/>
          <p:cNvSpPr/>
          <p:nvPr/>
        </p:nvSpPr>
        <p:spPr>
          <a:xfrm>
            <a:off x="749975" y="5744766"/>
            <a:ext cx="161449" cy="269438"/>
          </a:xfrm>
          <a:prstGeom prst="rect">
            <a:avLst/>
          </a:prstGeom>
          <a:noFill/>
          <a:ln/>
        </p:spPr>
        <p:txBody>
          <a:bodyPr wrap="none" lIns="0" tIns="0" rIns="0" bIns="0" rtlCol="0" anchor="t"/>
          <a:lstStyle/>
          <a:p>
            <a:pPr algn="ctr" indent="0" marL="0">
              <a:lnSpc>
                <a:spcPts val="2100"/>
              </a:lnSpc>
              <a:buNone/>
            </a:pPr>
            <a:r>
              <a:rPr lang="en-US" sz="2100" dirty="0">
                <a:solidFill>
                  <a:srgbClr val="464646"/>
                </a:solidFill>
                <a:latin typeface="DM Sans Semi Bold" pitchFamily="34" charset="0"/>
                <a:ea typeface="DM Sans Semi Bold" pitchFamily="34" charset="-122"/>
                <a:cs typeface="DM Sans Semi Bold" pitchFamily="34" charset="-120"/>
              </a:rPr>
              <a:t>3</a:t>
            </a:r>
            <a:endParaRPr lang="en-US" sz="2100" dirty="0"/>
          </a:p>
        </p:txBody>
      </p:sp>
      <p:sp>
        <p:nvSpPr>
          <p:cNvPr id="14" name="Text 11"/>
          <p:cNvSpPr/>
          <p:nvPr/>
        </p:nvSpPr>
        <p:spPr>
          <a:xfrm>
            <a:off x="1212294" y="5677495"/>
            <a:ext cx="2245400" cy="280630"/>
          </a:xfrm>
          <a:prstGeom prst="rect">
            <a:avLst/>
          </a:prstGeom>
          <a:noFill/>
          <a:ln/>
        </p:spPr>
        <p:txBody>
          <a:bodyPr wrap="none" lIns="0" tIns="0" rIns="0" bIns="0" rtlCol="0" anchor="t"/>
          <a:lstStyle/>
          <a:p>
            <a:pPr indent="0" marL="0">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Decision Support</a:t>
            </a:r>
            <a:endParaRPr lang="en-US" sz="1750" dirty="0"/>
          </a:p>
        </p:txBody>
      </p:sp>
      <p:sp>
        <p:nvSpPr>
          <p:cNvPr id="15" name="Text 12"/>
          <p:cNvSpPr/>
          <p:nvPr/>
        </p:nvSpPr>
        <p:spPr>
          <a:xfrm>
            <a:off x="1212294" y="6065877"/>
            <a:ext cx="7303056" cy="1149667"/>
          </a:xfrm>
          <a:prstGeom prst="rect">
            <a:avLst/>
          </a:prstGeom>
          <a:noFill/>
          <a:ln/>
        </p:spPr>
        <p:txBody>
          <a:bodyPr wrap="square" lIns="0" tIns="0" rIns="0" bIns="0" rtlCol="0" anchor="t"/>
          <a:lstStyle/>
          <a:p>
            <a:pPr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The tool provides insights and recommendations to support informed, ethical decision-making. It helps users identify key ethical considerations, assess the potential impacts of decisions, and select courses of action that align with their values and organizational principles.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20435" y="1085850"/>
            <a:ext cx="7903131" cy="1107996"/>
          </a:xfrm>
          <a:prstGeom prst="rect">
            <a:avLst/>
          </a:prstGeom>
          <a:noFill/>
          <a:ln/>
        </p:spPr>
        <p:txBody>
          <a:bodyPr wrap="square" lIns="0" tIns="0" rIns="0" bIns="0" rtlCol="0" anchor="t"/>
          <a:lstStyle/>
          <a:p>
            <a:pPr indent="0" marL="0">
              <a:lnSpc>
                <a:spcPts val="4350"/>
              </a:lnSpc>
              <a:buNone/>
            </a:pPr>
            <a:r>
              <a:rPr lang="en-US" sz="3450" dirty="0">
                <a:solidFill>
                  <a:srgbClr val="030303"/>
                </a:solidFill>
                <a:latin typeface="DM Sans Semi Bold" pitchFamily="34" charset="0"/>
                <a:ea typeface="DM Sans Semi Bold" pitchFamily="34" charset="-122"/>
                <a:cs typeface="DM Sans Semi Bold" pitchFamily="34" charset="-120"/>
              </a:rPr>
              <a:t>How Mistral AI Powers Realistic Scenario Generation</a:t>
            </a:r>
            <a:endParaRPr lang="en-US" sz="3450" dirty="0"/>
          </a:p>
        </p:txBody>
      </p:sp>
      <p:pic>
        <p:nvPicPr>
          <p:cNvPr id="4" name="Image 1" descr="preencoded.png">    </p:cNvPr>
          <p:cNvPicPr>
            <a:picLocks noChangeAspect="1"/>
          </p:cNvPicPr>
          <p:nvPr/>
        </p:nvPicPr>
        <p:blipFill>
          <a:blip r:embed="rId2"/>
          <a:stretch>
            <a:fillRect/>
          </a:stretch>
        </p:blipFill>
        <p:spPr>
          <a:xfrm>
            <a:off x="620435" y="2459712"/>
            <a:ext cx="443151" cy="443151"/>
          </a:xfrm>
          <a:prstGeom prst="rect">
            <a:avLst/>
          </a:prstGeom>
        </p:spPr>
      </p:pic>
      <p:sp>
        <p:nvSpPr>
          <p:cNvPr id="5" name="Text 1"/>
          <p:cNvSpPr/>
          <p:nvPr/>
        </p:nvSpPr>
        <p:spPr>
          <a:xfrm>
            <a:off x="620435" y="3080147"/>
            <a:ext cx="2457093" cy="553879"/>
          </a:xfrm>
          <a:prstGeom prst="rect">
            <a:avLst/>
          </a:prstGeom>
          <a:noFill/>
          <a:ln/>
        </p:spPr>
        <p:txBody>
          <a:bodyPr wrap="square" lIns="0" tIns="0" rIns="0" bIns="0" rtlCol="0" anchor="t"/>
          <a:lstStyle/>
          <a:p>
            <a:pPr algn="l" indent="0" marL="0">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Natural Language Processing</a:t>
            </a:r>
            <a:endParaRPr lang="en-US" sz="1700" dirty="0"/>
          </a:p>
        </p:txBody>
      </p:sp>
      <p:sp>
        <p:nvSpPr>
          <p:cNvPr id="6" name="Text 2"/>
          <p:cNvSpPr/>
          <p:nvPr/>
        </p:nvSpPr>
        <p:spPr>
          <a:xfrm>
            <a:off x="620435" y="3740348"/>
            <a:ext cx="2457093" cy="2836069"/>
          </a:xfrm>
          <a:prstGeom prst="rect">
            <a:avLst/>
          </a:prstGeom>
          <a:noFill/>
          <a:ln/>
        </p:spPr>
        <p:txBody>
          <a:bodyPr wrap="square" lIns="0" tIns="0" rIns="0" bIns="0" rtlCol="0" anchor="t"/>
          <a:lstStyle/>
          <a:p>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Mistral's NLP capabilities enable the tool to understand and interpret complex ethical questions, policy documents, and business contexts. This allows the AI to generate scenarios that are highly relevant and tailored to specific user needs.</a:t>
            </a:r>
            <a:endParaRPr lang="en-US" sz="1350" dirty="0"/>
          </a:p>
        </p:txBody>
      </p:sp>
      <p:pic>
        <p:nvPicPr>
          <p:cNvPr id="7" name="Image 2" descr="preencoded.png">    </p:cNvPr>
          <p:cNvPicPr>
            <a:picLocks noChangeAspect="1"/>
          </p:cNvPicPr>
          <p:nvPr/>
        </p:nvPicPr>
        <p:blipFill>
          <a:blip r:embed="rId3"/>
          <a:stretch>
            <a:fillRect/>
          </a:stretch>
        </p:blipFill>
        <p:spPr>
          <a:xfrm>
            <a:off x="3343394" y="2459712"/>
            <a:ext cx="443151" cy="443151"/>
          </a:xfrm>
          <a:prstGeom prst="rect">
            <a:avLst/>
          </a:prstGeom>
        </p:spPr>
      </p:pic>
      <p:sp>
        <p:nvSpPr>
          <p:cNvPr id="8" name="Text 3"/>
          <p:cNvSpPr/>
          <p:nvPr/>
        </p:nvSpPr>
        <p:spPr>
          <a:xfrm>
            <a:off x="3343394" y="3080147"/>
            <a:ext cx="2216229" cy="276939"/>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Predictive Modeling</a:t>
            </a:r>
            <a:endParaRPr lang="en-US" sz="1700" dirty="0"/>
          </a:p>
        </p:txBody>
      </p:sp>
      <p:sp>
        <p:nvSpPr>
          <p:cNvPr id="9" name="Text 4"/>
          <p:cNvSpPr/>
          <p:nvPr/>
        </p:nvSpPr>
        <p:spPr>
          <a:xfrm>
            <a:off x="3343394" y="3463409"/>
            <a:ext cx="2457093" cy="2836069"/>
          </a:xfrm>
          <a:prstGeom prst="rect">
            <a:avLst/>
          </a:prstGeom>
          <a:noFill/>
          <a:ln/>
        </p:spPr>
        <p:txBody>
          <a:bodyPr wrap="square" lIns="0" tIns="0" rIns="0" bIns="0" rtlCol="0" anchor="t"/>
          <a:lstStyle/>
          <a:p>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Mistral's predictive models simulate the potential consequences of decisions based on historical data, expert opinions, and ethical frameworks. This helps users anticipate risks, evaluate trade-offs, and make more informed choices.</a:t>
            </a:r>
            <a:endParaRPr lang="en-US" sz="1350" dirty="0"/>
          </a:p>
        </p:txBody>
      </p:sp>
      <p:pic>
        <p:nvPicPr>
          <p:cNvPr id="10" name="Image 3" descr="preencoded.png">    </p:cNvPr>
          <p:cNvPicPr>
            <a:picLocks noChangeAspect="1"/>
          </p:cNvPicPr>
          <p:nvPr/>
        </p:nvPicPr>
        <p:blipFill>
          <a:blip r:embed="rId4"/>
          <a:stretch>
            <a:fillRect/>
          </a:stretch>
        </p:blipFill>
        <p:spPr>
          <a:xfrm>
            <a:off x="6066353" y="2459712"/>
            <a:ext cx="443151" cy="443151"/>
          </a:xfrm>
          <a:prstGeom prst="rect">
            <a:avLst/>
          </a:prstGeom>
        </p:spPr>
      </p:pic>
      <p:sp>
        <p:nvSpPr>
          <p:cNvPr id="11" name="Text 5"/>
          <p:cNvSpPr/>
          <p:nvPr/>
        </p:nvSpPr>
        <p:spPr>
          <a:xfrm>
            <a:off x="6066353" y="3080147"/>
            <a:ext cx="2457093" cy="553879"/>
          </a:xfrm>
          <a:prstGeom prst="rect">
            <a:avLst/>
          </a:prstGeom>
          <a:noFill/>
          <a:ln/>
        </p:spPr>
        <p:txBody>
          <a:bodyPr wrap="square" lIns="0" tIns="0" rIns="0" bIns="0" rtlCol="0" anchor="t"/>
          <a:lstStyle/>
          <a:p>
            <a:pPr algn="l" indent="0" marL="0">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Ethical Framework Integration</a:t>
            </a:r>
            <a:endParaRPr lang="en-US" sz="1700" dirty="0"/>
          </a:p>
        </p:txBody>
      </p:sp>
      <p:sp>
        <p:nvSpPr>
          <p:cNvPr id="12" name="Text 6"/>
          <p:cNvSpPr/>
          <p:nvPr/>
        </p:nvSpPr>
        <p:spPr>
          <a:xfrm>
            <a:off x="6066353" y="3740348"/>
            <a:ext cx="2457093" cy="3403283"/>
          </a:xfrm>
          <a:prstGeom prst="rect">
            <a:avLst/>
          </a:prstGeom>
          <a:noFill/>
          <a:ln/>
        </p:spPr>
        <p:txBody>
          <a:bodyPr wrap="square" lIns="0" tIns="0" rIns="0" bIns="0" rtlCol="0" anchor="t"/>
          <a:lstStyle/>
          <a:p>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The AI integrates established ethical frameworks, such as utilitarianism, deontology, and virtue ethics, to provide a comprehensive assessment of ethical considerations. This helps users evaluate decisions from multiple perspectives and ensure alignment with ethical principles.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04599" y="674132"/>
            <a:ext cx="7934801" cy="1079897"/>
          </a:xfrm>
          <a:prstGeom prst="rect">
            <a:avLst/>
          </a:prstGeom>
          <a:noFill/>
          <a:ln/>
        </p:spPr>
        <p:txBody>
          <a:bodyPr wrap="square" lIns="0" tIns="0" rIns="0" bIns="0" rtlCol="0" anchor="t"/>
          <a:lstStyle/>
          <a:p>
            <a:pPr indent="0" marL="0">
              <a:lnSpc>
                <a:spcPts val="4250"/>
              </a:lnSpc>
              <a:buNone/>
            </a:pPr>
            <a:r>
              <a:rPr lang="en-US" sz="3400" dirty="0">
                <a:solidFill>
                  <a:srgbClr val="030303"/>
                </a:solidFill>
                <a:latin typeface="DM Sans Semi Bold" pitchFamily="34" charset="0"/>
                <a:ea typeface="DM Sans Semi Bold" pitchFamily="34" charset="-122"/>
                <a:cs typeface="DM Sans Semi Bold" pitchFamily="34" charset="-120"/>
              </a:rPr>
              <a:t>Case Study: Policy Implications of AI in Healthcare</a:t>
            </a:r>
            <a:endParaRPr lang="en-US" sz="3400" dirty="0"/>
          </a:p>
        </p:txBody>
      </p:sp>
      <p:sp>
        <p:nvSpPr>
          <p:cNvPr id="4" name="Shape 1"/>
          <p:cNvSpPr/>
          <p:nvPr/>
        </p:nvSpPr>
        <p:spPr>
          <a:xfrm>
            <a:off x="852249" y="2013109"/>
            <a:ext cx="22860" cy="5542359"/>
          </a:xfrm>
          <a:prstGeom prst="roundRect">
            <a:avLst>
              <a:gd name="adj" fmla="val 113362"/>
            </a:avLst>
          </a:prstGeom>
          <a:solidFill>
            <a:srgbClr val="D8D4D4"/>
          </a:solidFill>
          <a:ln/>
        </p:spPr>
      </p:sp>
      <p:sp>
        <p:nvSpPr>
          <p:cNvPr id="5" name="Shape 2"/>
          <p:cNvSpPr/>
          <p:nvPr/>
        </p:nvSpPr>
        <p:spPr>
          <a:xfrm>
            <a:off x="1035129" y="2390299"/>
            <a:ext cx="604599" cy="22860"/>
          </a:xfrm>
          <a:prstGeom prst="roundRect">
            <a:avLst>
              <a:gd name="adj" fmla="val 113362"/>
            </a:avLst>
          </a:prstGeom>
          <a:solidFill>
            <a:srgbClr val="D8D4D4"/>
          </a:solidFill>
          <a:ln/>
        </p:spPr>
      </p:sp>
      <p:sp>
        <p:nvSpPr>
          <p:cNvPr id="6" name="Shape 3"/>
          <p:cNvSpPr/>
          <p:nvPr/>
        </p:nvSpPr>
        <p:spPr>
          <a:xfrm>
            <a:off x="669369" y="2207419"/>
            <a:ext cx="388620" cy="388620"/>
          </a:xfrm>
          <a:prstGeom prst="roundRect">
            <a:avLst>
              <a:gd name="adj" fmla="val 6668"/>
            </a:avLst>
          </a:prstGeom>
          <a:solidFill>
            <a:srgbClr val="F2EEEE"/>
          </a:solidFill>
          <a:ln/>
        </p:spPr>
      </p:sp>
      <p:sp>
        <p:nvSpPr>
          <p:cNvPr id="7" name="Text 4"/>
          <p:cNvSpPr/>
          <p:nvPr/>
        </p:nvSpPr>
        <p:spPr>
          <a:xfrm>
            <a:off x="818555" y="2272070"/>
            <a:ext cx="90249" cy="259199"/>
          </a:xfrm>
          <a:prstGeom prst="rect">
            <a:avLst/>
          </a:prstGeom>
          <a:noFill/>
          <a:ln/>
        </p:spPr>
        <p:txBody>
          <a:bodyPr wrap="none" lIns="0" tIns="0" rIns="0" bIns="0" rtlCol="0" anchor="t"/>
          <a:lstStyle/>
          <a:p>
            <a:pPr algn="ctr" indent="0" marL="0">
              <a:lnSpc>
                <a:spcPts val="2000"/>
              </a:lnSpc>
              <a:buNone/>
            </a:pPr>
            <a:r>
              <a:rPr lang="en-US" sz="2000" dirty="0">
                <a:solidFill>
                  <a:srgbClr val="464646"/>
                </a:solidFill>
                <a:latin typeface="DM Sans Semi Bold" pitchFamily="34" charset="0"/>
                <a:ea typeface="DM Sans Semi Bold" pitchFamily="34" charset="-122"/>
                <a:cs typeface="DM Sans Semi Bold" pitchFamily="34" charset="-120"/>
              </a:rPr>
              <a:t>1</a:t>
            </a:r>
            <a:endParaRPr lang="en-US" sz="2000" dirty="0"/>
          </a:p>
        </p:txBody>
      </p:sp>
      <p:sp>
        <p:nvSpPr>
          <p:cNvPr id="8" name="Text 5"/>
          <p:cNvSpPr/>
          <p:nvPr/>
        </p:nvSpPr>
        <p:spPr>
          <a:xfrm>
            <a:off x="1813798" y="2185868"/>
            <a:ext cx="2159437" cy="269915"/>
          </a:xfrm>
          <a:prstGeom prst="rect">
            <a:avLst/>
          </a:prstGeom>
          <a:noFill/>
          <a:ln/>
        </p:spPr>
        <p:txBody>
          <a:bodyPr wrap="none" lIns="0" tIns="0" rIns="0" bIns="0" rtlCol="0" anchor="t"/>
          <a:lstStyle/>
          <a:p>
            <a:pPr algn="l" indent="0" marL="0">
              <a:lnSpc>
                <a:spcPts val="2100"/>
              </a:lnSpc>
              <a:buNone/>
            </a:pPr>
            <a:r>
              <a:rPr lang="en-US" sz="1700" dirty="0">
                <a:solidFill>
                  <a:srgbClr val="464646"/>
                </a:solidFill>
                <a:latin typeface="DM Sans Semi Bold" pitchFamily="34" charset="0"/>
                <a:ea typeface="DM Sans Semi Bold" pitchFamily="34" charset="-122"/>
                <a:cs typeface="DM Sans Semi Bold" pitchFamily="34" charset="-120"/>
              </a:rPr>
              <a:t>Scenario</a:t>
            </a:r>
            <a:endParaRPr lang="en-US" sz="1700" dirty="0"/>
          </a:p>
        </p:txBody>
      </p:sp>
      <p:sp>
        <p:nvSpPr>
          <p:cNvPr id="9" name="Text 6"/>
          <p:cNvSpPr/>
          <p:nvPr/>
        </p:nvSpPr>
        <p:spPr>
          <a:xfrm>
            <a:off x="1813798" y="2559368"/>
            <a:ext cx="6725603" cy="829032"/>
          </a:xfrm>
          <a:prstGeom prst="rect">
            <a:avLst/>
          </a:prstGeom>
          <a:noFill/>
          <a:ln/>
        </p:spPr>
        <p:txBody>
          <a:bodyPr wrap="square" lIns="0" tIns="0" rIns="0" bIns="0" rtlCol="0" anchor="t"/>
          <a:lstStyle/>
          <a:p>
            <a:pPr algn="l" indent="0" marL="0">
              <a:lnSpc>
                <a:spcPts val="2150"/>
              </a:lnSpc>
              <a:buNone/>
            </a:pPr>
            <a:r>
              <a:rPr lang="en-US" sz="1350" dirty="0">
                <a:solidFill>
                  <a:srgbClr val="464646"/>
                </a:solidFill>
                <a:latin typeface="Inter Medium" pitchFamily="34" charset="0"/>
                <a:ea typeface="Inter Medium" pitchFamily="34" charset="-122"/>
                <a:cs typeface="Inter Medium" pitchFamily="34" charset="-120"/>
              </a:rPr>
              <a:t>A hospital uses AI to prioritize patient care based on predicted risk scores. The simulation explores potential biases in the algorithm that could disproportionately impact certain demographic groups, leading to unequal access to treatment.</a:t>
            </a:r>
            <a:endParaRPr lang="en-US" sz="1350" dirty="0"/>
          </a:p>
        </p:txBody>
      </p:sp>
      <p:sp>
        <p:nvSpPr>
          <p:cNvPr id="10" name="Shape 7"/>
          <p:cNvSpPr/>
          <p:nvPr/>
        </p:nvSpPr>
        <p:spPr>
          <a:xfrm>
            <a:off x="1035129" y="4111109"/>
            <a:ext cx="604599" cy="22860"/>
          </a:xfrm>
          <a:prstGeom prst="roundRect">
            <a:avLst>
              <a:gd name="adj" fmla="val 113362"/>
            </a:avLst>
          </a:prstGeom>
          <a:solidFill>
            <a:srgbClr val="D8D4D4"/>
          </a:solidFill>
          <a:ln/>
        </p:spPr>
      </p:sp>
      <p:sp>
        <p:nvSpPr>
          <p:cNvPr id="11" name="Shape 8"/>
          <p:cNvSpPr/>
          <p:nvPr/>
        </p:nvSpPr>
        <p:spPr>
          <a:xfrm>
            <a:off x="669369" y="3928229"/>
            <a:ext cx="388620" cy="388620"/>
          </a:xfrm>
          <a:prstGeom prst="roundRect">
            <a:avLst>
              <a:gd name="adj" fmla="val 6668"/>
            </a:avLst>
          </a:prstGeom>
          <a:solidFill>
            <a:srgbClr val="F2EEEE"/>
          </a:solidFill>
          <a:ln/>
        </p:spPr>
      </p:sp>
      <p:sp>
        <p:nvSpPr>
          <p:cNvPr id="12" name="Text 9"/>
          <p:cNvSpPr/>
          <p:nvPr/>
        </p:nvSpPr>
        <p:spPr>
          <a:xfrm>
            <a:off x="788908" y="3992880"/>
            <a:ext cx="149543" cy="259199"/>
          </a:xfrm>
          <a:prstGeom prst="rect">
            <a:avLst/>
          </a:prstGeom>
          <a:noFill/>
          <a:ln/>
        </p:spPr>
        <p:txBody>
          <a:bodyPr wrap="none" lIns="0" tIns="0" rIns="0" bIns="0" rtlCol="0" anchor="t"/>
          <a:lstStyle/>
          <a:p>
            <a:pPr algn="ctr" indent="0" marL="0">
              <a:lnSpc>
                <a:spcPts val="2000"/>
              </a:lnSpc>
              <a:buNone/>
            </a:pPr>
            <a:r>
              <a:rPr lang="en-US" sz="2000" dirty="0">
                <a:solidFill>
                  <a:srgbClr val="464646"/>
                </a:solidFill>
                <a:latin typeface="DM Sans Semi Bold" pitchFamily="34" charset="0"/>
                <a:ea typeface="DM Sans Semi Bold" pitchFamily="34" charset="-122"/>
                <a:cs typeface="DM Sans Semi Bold" pitchFamily="34" charset="-120"/>
              </a:rPr>
              <a:t>2</a:t>
            </a:r>
            <a:endParaRPr lang="en-US" sz="2000" dirty="0"/>
          </a:p>
        </p:txBody>
      </p:sp>
      <p:sp>
        <p:nvSpPr>
          <p:cNvPr id="13" name="Text 10"/>
          <p:cNvSpPr/>
          <p:nvPr/>
        </p:nvSpPr>
        <p:spPr>
          <a:xfrm>
            <a:off x="1813798" y="3906679"/>
            <a:ext cx="2159437" cy="269915"/>
          </a:xfrm>
          <a:prstGeom prst="rect">
            <a:avLst/>
          </a:prstGeom>
          <a:noFill/>
          <a:ln/>
        </p:spPr>
        <p:txBody>
          <a:bodyPr wrap="none" lIns="0" tIns="0" rIns="0" bIns="0" rtlCol="0" anchor="t"/>
          <a:lstStyle/>
          <a:p>
            <a:pPr algn="l" indent="0" marL="0">
              <a:lnSpc>
                <a:spcPts val="2100"/>
              </a:lnSpc>
              <a:buNone/>
            </a:pPr>
            <a:r>
              <a:rPr lang="en-US" sz="1700" dirty="0">
                <a:solidFill>
                  <a:srgbClr val="464646"/>
                </a:solidFill>
                <a:latin typeface="DM Sans Semi Bold" pitchFamily="34" charset="0"/>
                <a:ea typeface="DM Sans Semi Bold" pitchFamily="34" charset="-122"/>
                <a:cs typeface="DM Sans Semi Bold" pitchFamily="34" charset="-120"/>
              </a:rPr>
              <a:t>Analysis</a:t>
            </a:r>
            <a:endParaRPr lang="en-US" sz="1700" dirty="0"/>
          </a:p>
        </p:txBody>
      </p:sp>
      <p:sp>
        <p:nvSpPr>
          <p:cNvPr id="14" name="Text 11"/>
          <p:cNvSpPr/>
          <p:nvPr/>
        </p:nvSpPr>
        <p:spPr>
          <a:xfrm>
            <a:off x="1813798" y="4280178"/>
            <a:ext cx="6725603" cy="1105376"/>
          </a:xfrm>
          <a:prstGeom prst="rect">
            <a:avLst/>
          </a:prstGeom>
          <a:noFill/>
          <a:ln/>
        </p:spPr>
        <p:txBody>
          <a:bodyPr wrap="square" lIns="0" tIns="0" rIns="0" bIns="0" rtlCol="0" anchor="t"/>
          <a:lstStyle/>
          <a:p>
            <a:pPr algn="l" indent="0" marL="0">
              <a:lnSpc>
                <a:spcPts val="2150"/>
              </a:lnSpc>
              <a:buNone/>
            </a:pPr>
            <a:r>
              <a:rPr lang="en-US" sz="1350" dirty="0">
                <a:solidFill>
                  <a:srgbClr val="464646"/>
                </a:solidFill>
                <a:latin typeface="Inter Medium" pitchFamily="34" charset="0"/>
                <a:ea typeface="Inter Medium" pitchFamily="34" charset="-122"/>
                <a:cs typeface="Inter Medium" pitchFamily="34" charset="-120"/>
              </a:rPr>
              <a:t>The simulation reveals that the AI algorithm, trained on historical data, inadvertently incorporates biases that disadvantage elderly patients. This leads to reduced access to timely interventions and potentially worse health outcomes for this group.</a:t>
            </a:r>
            <a:endParaRPr lang="en-US" sz="1350" dirty="0"/>
          </a:p>
        </p:txBody>
      </p:sp>
      <p:sp>
        <p:nvSpPr>
          <p:cNvPr id="15" name="Shape 12"/>
          <p:cNvSpPr/>
          <p:nvPr/>
        </p:nvSpPr>
        <p:spPr>
          <a:xfrm>
            <a:off x="1035129" y="6108263"/>
            <a:ext cx="604599" cy="22860"/>
          </a:xfrm>
          <a:prstGeom prst="roundRect">
            <a:avLst>
              <a:gd name="adj" fmla="val 113362"/>
            </a:avLst>
          </a:prstGeom>
          <a:solidFill>
            <a:srgbClr val="D8D4D4"/>
          </a:solidFill>
          <a:ln/>
        </p:spPr>
      </p:sp>
      <p:sp>
        <p:nvSpPr>
          <p:cNvPr id="16" name="Shape 13"/>
          <p:cNvSpPr/>
          <p:nvPr/>
        </p:nvSpPr>
        <p:spPr>
          <a:xfrm>
            <a:off x="669369" y="5925383"/>
            <a:ext cx="388620" cy="388620"/>
          </a:xfrm>
          <a:prstGeom prst="roundRect">
            <a:avLst>
              <a:gd name="adj" fmla="val 6668"/>
            </a:avLst>
          </a:prstGeom>
          <a:solidFill>
            <a:srgbClr val="F2EEEE"/>
          </a:solidFill>
          <a:ln/>
        </p:spPr>
      </p:sp>
      <p:sp>
        <p:nvSpPr>
          <p:cNvPr id="17" name="Text 14"/>
          <p:cNvSpPr/>
          <p:nvPr/>
        </p:nvSpPr>
        <p:spPr>
          <a:xfrm>
            <a:off x="786051" y="5990034"/>
            <a:ext cx="155258" cy="259199"/>
          </a:xfrm>
          <a:prstGeom prst="rect">
            <a:avLst/>
          </a:prstGeom>
          <a:noFill/>
          <a:ln/>
        </p:spPr>
        <p:txBody>
          <a:bodyPr wrap="none" lIns="0" tIns="0" rIns="0" bIns="0" rtlCol="0" anchor="t"/>
          <a:lstStyle/>
          <a:p>
            <a:pPr algn="ctr" indent="0" marL="0">
              <a:lnSpc>
                <a:spcPts val="2000"/>
              </a:lnSpc>
              <a:buNone/>
            </a:pPr>
            <a:r>
              <a:rPr lang="en-US" sz="2000" dirty="0">
                <a:solidFill>
                  <a:srgbClr val="464646"/>
                </a:solidFill>
                <a:latin typeface="DM Sans Semi Bold" pitchFamily="34" charset="0"/>
                <a:ea typeface="DM Sans Semi Bold" pitchFamily="34" charset="-122"/>
                <a:cs typeface="DM Sans Semi Bold" pitchFamily="34" charset="-120"/>
              </a:rPr>
              <a:t>3</a:t>
            </a:r>
            <a:endParaRPr lang="en-US" sz="2000" dirty="0"/>
          </a:p>
        </p:txBody>
      </p:sp>
      <p:sp>
        <p:nvSpPr>
          <p:cNvPr id="18" name="Text 15"/>
          <p:cNvSpPr/>
          <p:nvPr/>
        </p:nvSpPr>
        <p:spPr>
          <a:xfrm>
            <a:off x="1813798" y="5903833"/>
            <a:ext cx="2159437" cy="269915"/>
          </a:xfrm>
          <a:prstGeom prst="rect">
            <a:avLst/>
          </a:prstGeom>
          <a:noFill/>
          <a:ln/>
        </p:spPr>
        <p:txBody>
          <a:bodyPr wrap="none" lIns="0" tIns="0" rIns="0" bIns="0" rtlCol="0" anchor="t"/>
          <a:lstStyle/>
          <a:p>
            <a:pPr algn="l" indent="0" marL="0">
              <a:lnSpc>
                <a:spcPts val="2100"/>
              </a:lnSpc>
              <a:buNone/>
            </a:pPr>
            <a:r>
              <a:rPr lang="en-US" sz="1700" dirty="0">
                <a:solidFill>
                  <a:srgbClr val="464646"/>
                </a:solidFill>
                <a:latin typeface="DM Sans Semi Bold" pitchFamily="34" charset="0"/>
                <a:ea typeface="DM Sans Semi Bold" pitchFamily="34" charset="-122"/>
                <a:cs typeface="DM Sans Semi Bold" pitchFamily="34" charset="-120"/>
              </a:rPr>
              <a:t>Outcome</a:t>
            </a:r>
            <a:endParaRPr lang="en-US" sz="1700" dirty="0"/>
          </a:p>
        </p:txBody>
      </p:sp>
      <p:sp>
        <p:nvSpPr>
          <p:cNvPr id="19" name="Text 16"/>
          <p:cNvSpPr/>
          <p:nvPr/>
        </p:nvSpPr>
        <p:spPr>
          <a:xfrm>
            <a:off x="1813798" y="6277332"/>
            <a:ext cx="6725603" cy="1105376"/>
          </a:xfrm>
          <a:prstGeom prst="rect">
            <a:avLst/>
          </a:prstGeom>
          <a:noFill/>
          <a:ln/>
        </p:spPr>
        <p:txBody>
          <a:bodyPr wrap="square" lIns="0" tIns="0" rIns="0" bIns="0" rtlCol="0" anchor="t"/>
          <a:lstStyle/>
          <a:p>
            <a:pPr algn="l" indent="0" marL="0">
              <a:lnSpc>
                <a:spcPts val="2150"/>
              </a:lnSpc>
              <a:buNone/>
            </a:pPr>
            <a:r>
              <a:rPr lang="en-US" sz="1350" dirty="0">
                <a:solidFill>
                  <a:srgbClr val="464646"/>
                </a:solidFill>
                <a:latin typeface="Inter Medium" pitchFamily="34" charset="0"/>
                <a:ea typeface="Inter Medium" pitchFamily="34" charset="-122"/>
                <a:cs typeface="Inter Medium" pitchFamily="34" charset="-120"/>
              </a:rPr>
              <a:t>Based on the simulation results, policymakers modify the AI algorithm to mitigate bias and ensure equitable access to healthcare for all patients, regardless of age or demographic background. They also implement ongoing monitoring to identify and address any emerging biases.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17220" y="638175"/>
            <a:ext cx="7909560" cy="1102043"/>
          </a:xfrm>
          <a:prstGeom prst="rect">
            <a:avLst/>
          </a:prstGeom>
          <a:noFill/>
          <a:ln/>
        </p:spPr>
        <p:txBody>
          <a:bodyPr wrap="square" lIns="0" tIns="0" rIns="0" bIns="0" rtlCol="0" anchor="t"/>
          <a:lstStyle/>
          <a:p>
            <a:pPr indent="0" marL="0">
              <a:lnSpc>
                <a:spcPts val="4300"/>
              </a:lnSpc>
              <a:buNone/>
            </a:pPr>
            <a:r>
              <a:rPr lang="en-US" sz="3450" dirty="0">
                <a:solidFill>
                  <a:srgbClr val="030303"/>
                </a:solidFill>
                <a:latin typeface="DM Sans Semi Bold" pitchFamily="34" charset="0"/>
                <a:ea typeface="DM Sans Semi Bold" pitchFamily="34" charset="-122"/>
                <a:cs typeface="DM Sans Semi Bold" pitchFamily="34" charset="-120"/>
              </a:rPr>
              <a:t>Benefits: Informed Decisions, Reduced Risk, Improved Outcomes</a:t>
            </a:r>
            <a:endParaRPr lang="en-US" sz="3450" dirty="0"/>
          </a:p>
        </p:txBody>
      </p:sp>
      <p:pic>
        <p:nvPicPr>
          <p:cNvPr id="4" name="Image 1" descr="preencoded.png">    </p:cNvPr>
          <p:cNvPicPr>
            <a:picLocks noChangeAspect="1"/>
          </p:cNvPicPr>
          <p:nvPr/>
        </p:nvPicPr>
        <p:blipFill>
          <a:blip r:embed="rId2"/>
          <a:stretch>
            <a:fillRect/>
          </a:stretch>
        </p:blipFill>
        <p:spPr>
          <a:xfrm>
            <a:off x="617220" y="2004655"/>
            <a:ext cx="881777" cy="1862257"/>
          </a:xfrm>
          <a:prstGeom prst="rect">
            <a:avLst/>
          </a:prstGeom>
        </p:spPr>
      </p:pic>
      <p:sp>
        <p:nvSpPr>
          <p:cNvPr id="5" name="Text 1"/>
          <p:cNvSpPr/>
          <p:nvPr/>
        </p:nvSpPr>
        <p:spPr>
          <a:xfrm>
            <a:off x="1763435" y="2180987"/>
            <a:ext cx="3044190" cy="275630"/>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Enhanced Ethical Awareness</a:t>
            </a:r>
            <a:endParaRPr lang="en-US" sz="1700" dirty="0"/>
          </a:p>
        </p:txBody>
      </p:sp>
      <p:sp>
        <p:nvSpPr>
          <p:cNvPr id="6" name="Text 2"/>
          <p:cNvSpPr/>
          <p:nvPr/>
        </p:nvSpPr>
        <p:spPr>
          <a:xfrm>
            <a:off x="1763435" y="2562344"/>
            <a:ext cx="6763345" cy="1128236"/>
          </a:xfrm>
          <a:prstGeom prst="rect">
            <a:avLst/>
          </a:prstGeom>
          <a:noFill/>
          <a:ln/>
        </p:spPr>
        <p:txBody>
          <a:bodyPr wrap="square" lIns="0" tIns="0" rIns="0" bIns="0" rtlCol="0" anchor="t"/>
          <a:lstStyle/>
          <a:p>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The application promotes a deeper understanding of ethical considerations and potential biases in decision-making. This heightened awareness helps users make more informed and responsible choices that align with their values and organizational principles.</a:t>
            </a:r>
            <a:endParaRPr lang="en-US" sz="1350" dirty="0"/>
          </a:p>
        </p:txBody>
      </p:sp>
      <p:pic>
        <p:nvPicPr>
          <p:cNvPr id="7" name="Image 2" descr="preencoded.png">    </p:cNvPr>
          <p:cNvPicPr>
            <a:picLocks noChangeAspect="1"/>
          </p:cNvPicPr>
          <p:nvPr/>
        </p:nvPicPr>
        <p:blipFill>
          <a:blip r:embed="rId3"/>
          <a:stretch>
            <a:fillRect/>
          </a:stretch>
        </p:blipFill>
        <p:spPr>
          <a:xfrm>
            <a:off x="617220" y="3866912"/>
            <a:ext cx="881777" cy="1862257"/>
          </a:xfrm>
          <a:prstGeom prst="rect">
            <a:avLst/>
          </a:prstGeom>
        </p:spPr>
      </p:pic>
      <p:sp>
        <p:nvSpPr>
          <p:cNvPr id="8" name="Text 3"/>
          <p:cNvSpPr/>
          <p:nvPr/>
        </p:nvSpPr>
        <p:spPr>
          <a:xfrm>
            <a:off x="1763435" y="4043243"/>
            <a:ext cx="3140750" cy="275630"/>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Mitigated Risks and Liabilities</a:t>
            </a:r>
            <a:endParaRPr lang="en-US" sz="1700" dirty="0"/>
          </a:p>
        </p:txBody>
      </p:sp>
      <p:sp>
        <p:nvSpPr>
          <p:cNvPr id="9" name="Text 4"/>
          <p:cNvSpPr/>
          <p:nvPr/>
        </p:nvSpPr>
        <p:spPr>
          <a:xfrm>
            <a:off x="1763435" y="4424601"/>
            <a:ext cx="6763345" cy="1128236"/>
          </a:xfrm>
          <a:prstGeom prst="rect">
            <a:avLst/>
          </a:prstGeom>
          <a:noFill/>
          <a:ln/>
        </p:spPr>
        <p:txBody>
          <a:bodyPr wrap="square" lIns="0" tIns="0" rIns="0" bIns="0" rtlCol="0" anchor="t"/>
          <a:lstStyle/>
          <a:p>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By simulating potential outcomes and identifying potential risks, the tool helps organizations proactively address ethical challenges and avoid costly mistakes. This reduces legal and reputational risks associated with unethical behavior or unintended consequences.</a:t>
            </a:r>
            <a:endParaRPr lang="en-US" sz="1350" dirty="0"/>
          </a:p>
        </p:txBody>
      </p:sp>
      <p:pic>
        <p:nvPicPr>
          <p:cNvPr id="10" name="Image 3" descr="preencoded.png">    </p:cNvPr>
          <p:cNvPicPr>
            <a:picLocks noChangeAspect="1"/>
          </p:cNvPicPr>
          <p:nvPr/>
        </p:nvPicPr>
        <p:blipFill>
          <a:blip r:embed="rId4"/>
          <a:stretch>
            <a:fillRect/>
          </a:stretch>
        </p:blipFill>
        <p:spPr>
          <a:xfrm>
            <a:off x="617220" y="5729168"/>
            <a:ext cx="881777" cy="1862257"/>
          </a:xfrm>
          <a:prstGeom prst="rect">
            <a:avLst/>
          </a:prstGeom>
        </p:spPr>
      </p:pic>
      <p:sp>
        <p:nvSpPr>
          <p:cNvPr id="11" name="Text 5"/>
          <p:cNvSpPr/>
          <p:nvPr/>
        </p:nvSpPr>
        <p:spPr>
          <a:xfrm>
            <a:off x="1763435" y="5905500"/>
            <a:ext cx="2935605" cy="275630"/>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Improved Stakeholder Trust</a:t>
            </a:r>
            <a:endParaRPr lang="en-US" sz="1700" dirty="0"/>
          </a:p>
        </p:txBody>
      </p:sp>
      <p:sp>
        <p:nvSpPr>
          <p:cNvPr id="12" name="Text 6"/>
          <p:cNvSpPr/>
          <p:nvPr/>
        </p:nvSpPr>
        <p:spPr>
          <a:xfrm>
            <a:off x="1763435" y="6286857"/>
            <a:ext cx="6763345" cy="1128236"/>
          </a:xfrm>
          <a:prstGeom prst="rect">
            <a:avLst/>
          </a:prstGeom>
          <a:noFill/>
          <a:ln/>
        </p:spPr>
        <p:txBody>
          <a:bodyPr wrap="square" lIns="0" tIns="0" rIns="0" bIns="0" rtlCol="0" anchor="t"/>
          <a:lstStyle/>
          <a:p>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Demonstrating a commitment to ethical decision-making fosters trust and confidence among stakeholders, including customers, employees, and investors. This strengthens relationships, enhances brand reputation, and promotes long-term sustainability.</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07350" y="610910"/>
            <a:ext cx="7729299" cy="1263253"/>
          </a:xfrm>
          <a:prstGeom prst="rect">
            <a:avLst/>
          </a:prstGeom>
          <a:noFill/>
          <a:ln/>
        </p:spPr>
        <p:txBody>
          <a:bodyPr wrap="square" lIns="0" tIns="0" rIns="0" bIns="0" rtlCol="0" anchor="t"/>
          <a:lstStyle/>
          <a:p>
            <a:pPr indent="0" marL="0">
              <a:lnSpc>
                <a:spcPts val="4950"/>
              </a:lnSpc>
              <a:buNone/>
            </a:pPr>
            <a:r>
              <a:rPr lang="en-US" sz="3950" dirty="0">
                <a:solidFill>
                  <a:srgbClr val="030303"/>
                </a:solidFill>
                <a:latin typeface="DM Sans Semi Bold" pitchFamily="34" charset="0"/>
                <a:ea typeface="DM Sans Semi Bold" pitchFamily="34" charset="-122"/>
                <a:cs typeface="DM Sans Semi Bold" pitchFamily="34" charset="-120"/>
              </a:rPr>
              <a:t>Target Audience: Who Can Benefit?</a:t>
            </a:r>
            <a:endParaRPr lang="en-US" sz="3950" dirty="0"/>
          </a:p>
        </p:txBody>
      </p:sp>
      <p:sp>
        <p:nvSpPr>
          <p:cNvPr id="4" name="Shape 1"/>
          <p:cNvSpPr/>
          <p:nvPr/>
        </p:nvSpPr>
        <p:spPr>
          <a:xfrm>
            <a:off x="707350" y="2177296"/>
            <a:ext cx="3763685" cy="3104674"/>
          </a:xfrm>
          <a:prstGeom prst="roundRect">
            <a:avLst>
              <a:gd name="adj" fmla="val 976"/>
            </a:avLst>
          </a:prstGeom>
          <a:solidFill>
            <a:srgbClr val="F2EEEE"/>
          </a:solidFill>
          <a:ln/>
        </p:spPr>
      </p:sp>
      <p:sp>
        <p:nvSpPr>
          <p:cNvPr id="5" name="Text 2"/>
          <p:cNvSpPr/>
          <p:nvPr/>
        </p:nvSpPr>
        <p:spPr>
          <a:xfrm>
            <a:off x="909399" y="2379345"/>
            <a:ext cx="2526387" cy="315754"/>
          </a:xfrm>
          <a:prstGeom prst="rect">
            <a:avLst/>
          </a:prstGeom>
          <a:noFill/>
          <a:ln/>
        </p:spPr>
        <p:txBody>
          <a:bodyPr wrap="none" lIns="0" tIns="0" rIns="0" bIns="0" rtlCol="0" anchor="t"/>
          <a:lstStyle/>
          <a:p>
            <a:pPr indent="0" marL="0">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Policymakers</a:t>
            </a:r>
            <a:endParaRPr lang="en-US" sz="1950" dirty="0"/>
          </a:p>
        </p:txBody>
      </p:sp>
      <p:sp>
        <p:nvSpPr>
          <p:cNvPr id="6" name="Text 3"/>
          <p:cNvSpPr/>
          <p:nvPr/>
        </p:nvSpPr>
        <p:spPr>
          <a:xfrm>
            <a:off x="909399" y="2816304"/>
            <a:ext cx="3359587" cy="2263616"/>
          </a:xfrm>
          <a:prstGeom prst="rect">
            <a:avLst/>
          </a:prstGeom>
          <a:noFill/>
          <a:ln/>
        </p:spPr>
        <p:txBody>
          <a:bodyPr wrap="square" lIns="0" tIns="0" rIns="0" bIns="0" rtlCol="0" anchor="t"/>
          <a:lstStyle/>
          <a:p>
            <a:pP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Government officials and regulatory agencies can use the tool to evaluate the ethical implications of proposed policies and regulations, ensuring fairness, transparency, and accountability in public governance.</a:t>
            </a:r>
            <a:endParaRPr lang="en-US" sz="1550" dirty="0"/>
          </a:p>
        </p:txBody>
      </p:sp>
      <p:sp>
        <p:nvSpPr>
          <p:cNvPr id="7" name="Shape 4"/>
          <p:cNvSpPr/>
          <p:nvPr/>
        </p:nvSpPr>
        <p:spPr>
          <a:xfrm>
            <a:off x="4673084" y="2177296"/>
            <a:ext cx="3763685" cy="3104674"/>
          </a:xfrm>
          <a:prstGeom prst="roundRect">
            <a:avLst>
              <a:gd name="adj" fmla="val 976"/>
            </a:avLst>
          </a:prstGeom>
          <a:solidFill>
            <a:srgbClr val="F2EEEE"/>
          </a:solidFill>
          <a:ln/>
        </p:spPr>
      </p:sp>
      <p:sp>
        <p:nvSpPr>
          <p:cNvPr id="8" name="Text 5"/>
          <p:cNvSpPr/>
          <p:nvPr/>
        </p:nvSpPr>
        <p:spPr>
          <a:xfrm>
            <a:off x="4875133" y="2379345"/>
            <a:ext cx="2526387" cy="315754"/>
          </a:xfrm>
          <a:prstGeom prst="rect">
            <a:avLst/>
          </a:prstGeom>
          <a:noFill/>
          <a:ln/>
        </p:spPr>
        <p:txBody>
          <a:bodyPr wrap="none" lIns="0" tIns="0" rIns="0" bIns="0" rtlCol="0" anchor="t"/>
          <a:lstStyle/>
          <a:p>
            <a:pPr indent="0" marL="0">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Business Leaders</a:t>
            </a:r>
            <a:endParaRPr lang="en-US" sz="1950" dirty="0"/>
          </a:p>
        </p:txBody>
      </p:sp>
      <p:sp>
        <p:nvSpPr>
          <p:cNvPr id="9" name="Text 6"/>
          <p:cNvSpPr/>
          <p:nvPr/>
        </p:nvSpPr>
        <p:spPr>
          <a:xfrm>
            <a:off x="4875133" y="2816304"/>
            <a:ext cx="3359587" cy="2263616"/>
          </a:xfrm>
          <a:prstGeom prst="rect">
            <a:avLst/>
          </a:prstGeom>
          <a:noFill/>
          <a:ln/>
        </p:spPr>
        <p:txBody>
          <a:bodyPr wrap="square" lIns="0" tIns="0" rIns="0" bIns="0" rtlCol="0" anchor="t"/>
          <a:lstStyle/>
          <a:p>
            <a:pP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Executives and managers can leverage the application to assess the ethical impact of business strategies and operational decisions, promoting corporate social responsibility and sustainable business practices.</a:t>
            </a:r>
            <a:endParaRPr lang="en-US" sz="1550" dirty="0"/>
          </a:p>
        </p:txBody>
      </p:sp>
      <p:sp>
        <p:nvSpPr>
          <p:cNvPr id="10" name="Shape 7"/>
          <p:cNvSpPr/>
          <p:nvPr/>
        </p:nvSpPr>
        <p:spPr>
          <a:xfrm>
            <a:off x="707350" y="5484019"/>
            <a:ext cx="7729299" cy="2134553"/>
          </a:xfrm>
          <a:prstGeom prst="roundRect">
            <a:avLst>
              <a:gd name="adj" fmla="val 1420"/>
            </a:avLst>
          </a:prstGeom>
          <a:solidFill>
            <a:srgbClr val="F2EEEE"/>
          </a:solidFill>
          <a:ln/>
        </p:spPr>
      </p:sp>
      <p:sp>
        <p:nvSpPr>
          <p:cNvPr id="11" name="Text 8"/>
          <p:cNvSpPr/>
          <p:nvPr/>
        </p:nvSpPr>
        <p:spPr>
          <a:xfrm>
            <a:off x="909399" y="5686068"/>
            <a:ext cx="2526387" cy="315754"/>
          </a:xfrm>
          <a:prstGeom prst="rect">
            <a:avLst/>
          </a:prstGeom>
          <a:noFill/>
          <a:ln/>
        </p:spPr>
        <p:txBody>
          <a:bodyPr wrap="none" lIns="0" tIns="0" rIns="0" bIns="0" rtlCol="0" anchor="t"/>
          <a:lstStyle/>
          <a:p>
            <a:pPr indent="0" marL="0">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Educators</a:t>
            </a:r>
            <a:endParaRPr lang="en-US" sz="1950" dirty="0"/>
          </a:p>
        </p:txBody>
      </p:sp>
      <p:sp>
        <p:nvSpPr>
          <p:cNvPr id="12" name="Text 9"/>
          <p:cNvSpPr/>
          <p:nvPr/>
        </p:nvSpPr>
        <p:spPr>
          <a:xfrm>
            <a:off x="909399" y="6123027"/>
            <a:ext cx="7325201" cy="1293495"/>
          </a:xfrm>
          <a:prstGeom prst="rect">
            <a:avLst/>
          </a:prstGeom>
          <a:noFill/>
          <a:ln/>
        </p:spPr>
        <p:txBody>
          <a:bodyPr wrap="square" lIns="0" tIns="0" rIns="0" bIns="0" rtlCol="0" anchor="t"/>
          <a:lstStyle/>
          <a:p>
            <a:pP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Professors and trainers can incorporate the tool into their curriculum to provide students with hands-on experience in ethical decision-making, preparing them to address complex ethical challenges in their future careers.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6155" y="958096"/>
            <a:ext cx="12574786" cy="594836"/>
          </a:xfrm>
          <a:prstGeom prst="rect">
            <a:avLst/>
          </a:prstGeom>
          <a:noFill/>
          <a:ln/>
        </p:spPr>
        <p:txBody>
          <a:bodyPr wrap="none" lIns="0" tIns="0" rIns="0" bIns="0" rtlCol="0" anchor="t"/>
          <a:lstStyle/>
          <a:p>
            <a:pPr indent="0" marL="0">
              <a:lnSpc>
                <a:spcPts val="4650"/>
              </a:lnSpc>
              <a:buNone/>
            </a:pPr>
            <a:r>
              <a:rPr lang="en-US" sz="3700" dirty="0">
                <a:solidFill>
                  <a:srgbClr val="030303"/>
                </a:solidFill>
                <a:latin typeface="DM Sans Semi Bold" pitchFamily="34" charset="0"/>
                <a:ea typeface="DM Sans Semi Bold" pitchFamily="34" charset="-122"/>
                <a:cs typeface="DM Sans Semi Bold" pitchFamily="34" charset="-120"/>
              </a:rPr>
              <a:t>Q&amp;A and Next Steps: Implementing Ethical AI Solutions</a:t>
            </a:r>
            <a:endParaRPr lang="en-US" sz="3700" dirty="0"/>
          </a:p>
        </p:txBody>
      </p:sp>
      <p:sp>
        <p:nvSpPr>
          <p:cNvPr id="3" name="Text 1"/>
          <p:cNvSpPr/>
          <p:nvPr/>
        </p:nvSpPr>
        <p:spPr>
          <a:xfrm>
            <a:off x="2697956" y="2689860"/>
            <a:ext cx="2379107" cy="297299"/>
          </a:xfrm>
          <a:prstGeom prst="rect">
            <a:avLst/>
          </a:prstGeom>
          <a:noFill/>
          <a:ln/>
        </p:spPr>
        <p:txBody>
          <a:bodyPr wrap="none" lIns="0" tIns="0" rIns="0" bIns="0" rtlCol="0" anchor="t"/>
          <a:lstStyle/>
          <a:p>
            <a:pPr algn="r" indent="0" marL="0">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Pilot Programs</a:t>
            </a:r>
            <a:endParaRPr lang="en-US" sz="1850" dirty="0"/>
          </a:p>
        </p:txBody>
      </p:sp>
      <p:pic>
        <p:nvPicPr>
          <p:cNvPr id="4" name="Image 0" descr="preencoded.png">    </p:cNvPr>
          <p:cNvPicPr>
            <a:picLocks noChangeAspect="1"/>
          </p:cNvPicPr>
          <p:nvPr/>
        </p:nvPicPr>
        <p:blipFill>
          <a:blip r:embed="rId1"/>
          <a:stretch>
            <a:fillRect/>
          </a:stretch>
        </p:blipFill>
        <p:spPr>
          <a:xfrm>
            <a:off x="5362456" y="1933575"/>
            <a:ext cx="3905488" cy="3905488"/>
          </a:xfrm>
          <a:prstGeom prst="rect">
            <a:avLst/>
          </a:prstGeom>
        </p:spPr>
      </p:pic>
      <p:sp>
        <p:nvSpPr>
          <p:cNvPr id="5" name="Text 2"/>
          <p:cNvSpPr/>
          <p:nvPr/>
        </p:nvSpPr>
        <p:spPr>
          <a:xfrm>
            <a:off x="6487716" y="2577703"/>
            <a:ext cx="82868" cy="380524"/>
          </a:xfrm>
          <a:prstGeom prst="rect">
            <a:avLst/>
          </a:prstGeom>
          <a:noFill/>
          <a:ln/>
        </p:spPr>
        <p:txBody>
          <a:bodyPr wrap="none" lIns="0" tIns="0" rIns="0" bIns="0" rtlCol="0" anchor="t"/>
          <a:lstStyle/>
          <a:p>
            <a:pPr indent="0" marL="0">
              <a:lnSpc>
                <a:spcPts val="2950"/>
              </a:lnSpc>
              <a:buNone/>
            </a:pPr>
            <a:r>
              <a:rPr lang="en-US" sz="1850" dirty="0">
                <a:solidFill>
                  <a:srgbClr val="464646"/>
                </a:solidFill>
                <a:latin typeface="DM Sans Semi Bold" pitchFamily="34" charset="0"/>
                <a:ea typeface="DM Sans Semi Bold" pitchFamily="34" charset="-122"/>
                <a:cs typeface="DM Sans Semi Bold" pitchFamily="34" charset="-120"/>
              </a:rPr>
              <a:t>1</a:t>
            </a:r>
            <a:endParaRPr lang="en-US" sz="1850" dirty="0"/>
          </a:p>
        </p:txBody>
      </p:sp>
      <p:sp>
        <p:nvSpPr>
          <p:cNvPr id="6" name="Text 3"/>
          <p:cNvSpPr/>
          <p:nvPr/>
        </p:nvSpPr>
        <p:spPr>
          <a:xfrm>
            <a:off x="9553337" y="2689860"/>
            <a:ext cx="2379107" cy="297299"/>
          </a:xfrm>
          <a:prstGeom prst="rect">
            <a:avLst/>
          </a:prstGeom>
          <a:noFill/>
          <a:ln/>
        </p:spPr>
        <p:txBody>
          <a:bodyPr wrap="none" lIns="0" tIns="0" rIns="0" bIns="0" rtlCol="0" anchor="t"/>
          <a:lstStyle/>
          <a:p>
            <a:pPr algn="l" indent="0" marL="0">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Customization</a:t>
            </a:r>
            <a:endParaRPr lang="en-US" sz="1850" dirty="0"/>
          </a:p>
        </p:txBody>
      </p:sp>
      <p:pic>
        <p:nvPicPr>
          <p:cNvPr id="7" name="Image 1" descr="preencoded.png">    </p:cNvPr>
          <p:cNvPicPr>
            <a:picLocks noChangeAspect="1"/>
          </p:cNvPicPr>
          <p:nvPr/>
        </p:nvPicPr>
        <p:blipFill>
          <a:blip r:embed="rId2"/>
          <a:stretch>
            <a:fillRect/>
          </a:stretch>
        </p:blipFill>
        <p:spPr>
          <a:xfrm>
            <a:off x="5362456" y="1933575"/>
            <a:ext cx="3905488" cy="3905488"/>
          </a:xfrm>
          <a:prstGeom prst="rect">
            <a:avLst/>
          </a:prstGeom>
        </p:spPr>
      </p:pic>
      <p:sp>
        <p:nvSpPr>
          <p:cNvPr id="8" name="Text 4"/>
          <p:cNvSpPr/>
          <p:nvPr/>
        </p:nvSpPr>
        <p:spPr>
          <a:xfrm>
            <a:off x="8364736" y="2910007"/>
            <a:ext cx="137279" cy="380524"/>
          </a:xfrm>
          <a:prstGeom prst="rect">
            <a:avLst/>
          </a:prstGeom>
          <a:noFill/>
          <a:ln/>
        </p:spPr>
        <p:txBody>
          <a:bodyPr wrap="none" lIns="0" tIns="0" rIns="0" bIns="0" rtlCol="0" anchor="t"/>
          <a:lstStyle/>
          <a:p>
            <a:pPr indent="0" marL="0">
              <a:lnSpc>
                <a:spcPts val="2950"/>
              </a:lnSpc>
              <a:buNone/>
            </a:pPr>
            <a:r>
              <a:rPr lang="en-US" sz="1850" dirty="0">
                <a:solidFill>
                  <a:srgbClr val="464646"/>
                </a:solidFill>
                <a:latin typeface="DM Sans Semi Bold" pitchFamily="34" charset="0"/>
                <a:ea typeface="DM Sans Semi Bold" pitchFamily="34" charset="-122"/>
                <a:cs typeface="DM Sans Semi Bold" pitchFamily="34" charset="-120"/>
              </a:rPr>
              <a:t>2</a:t>
            </a:r>
            <a:endParaRPr lang="en-US" sz="1850" dirty="0"/>
          </a:p>
        </p:txBody>
      </p:sp>
      <p:sp>
        <p:nvSpPr>
          <p:cNvPr id="9" name="Text 5"/>
          <p:cNvSpPr/>
          <p:nvPr/>
        </p:nvSpPr>
        <p:spPr>
          <a:xfrm>
            <a:off x="9553337" y="4785360"/>
            <a:ext cx="2379107" cy="297299"/>
          </a:xfrm>
          <a:prstGeom prst="rect">
            <a:avLst/>
          </a:prstGeom>
          <a:noFill/>
          <a:ln/>
        </p:spPr>
        <p:txBody>
          <a:bodyPr wrap="none" lIns="0" tIns="0" rIns="0" bIns="0" rtlCol="0" anchor="t"/>
          <a:lstStyle/>
          <a:p>
            <a:pPr algn="l" indent="0" marL="0">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Training</a:t>
            </a:r>
            <a:endParaRPr lang="en-US" sz="1850" dirty="0"/>
          </a:p>
        </p:txBody>
      </p:sp>
      <p:pic>
        <p:nvPicPr>
          <p:cNvPr id="10" name="Image 2" descr="preencoded.png">    </p:cNvPr>
          <p:cNvPicPr>
            <a:picLocks noChangeAspect="1"/>
          </p:cNvPicPr>
          <p:nvPr/>
        </p:nvPicPr>
        <p:blipFill>
          <a:blip r:embed="rId3"/>
          <a:stretch>
            <a:fillRect/>
          </a:stretch>
        </p:blipFill>
        <p:spPr>
          <a:xfrm>
            <a:off x="5362456" y="1933575"/>
            <a:ext cx="3905488" cy="3905488"/>
          </a:xfrm>
          <a:prstGeom prst="rect">
            <a:avLst/>
          </a:prstGeom>
        </p:spPr>
      </p:pic>
      <p:sp>
        <p:nvSpPr>
          <p:cNvPr id="11" name="Text 6"/>
          <p:cNvSpPr/>
          <p:nvPr/>
        </p:nvSpPr>
        <p:spPr>
          <a:xfrm>
            <a:off x="8029813" y="4814292"/>
            <a:ext cx="142518" cy="380524"/>
          </a:xfrm>
          <a:prstGeom prst="rect">
            <a:avLst/>
          </a:prstGeom>
          <a:noFill/>
          <a:ln/>
        </p:spPr>
        <p:txBody>
          <a:bodyPr wrap="none" lIns="0" tIns="0" rIns="0" bIns="0" rtlCol="0" anchor="t"/>
          <a:lstStyle/>
          <a:p>
            <a:pPr indent="0" marL="0">
              <a:lnSpc>
                <a:spcPts val="2950"/>
              </a:lnSpc>
              <a:buNone/>
            </a:pPr>
            <a:r>
              <a:rPr lang="en-US" sz="1850" dirty="0">
                <a:solidFill>
                  <a:srgbClr val="464646"/>
                </a:solidFill>
                <a:latin typeface="DM Sans Semi Bold" pitchFamily="34" charset="0"/>
                <a:ea typeface="DM Sans Semi Bold" pitchFamily="34" charset="-122"/>
                <a:cs typeface="DM Sans Semi Bold" pitchFamily="34" charset="-120"/>
              </a:rPr>
              <a:t>3</a:t>
            </a:r>
            <a:endParaRPr lang="en-US" sz="1850" dirty="0"/>
          </a:p>
        </p:txBody>
      </p:sp>
      <p:sp>
        <p:nvSpPr>
          <p:cNvPr id="12" name="Text 7"/>
          <p:cNvSpPr/>
          <p:nvPr/>
        </p:nvSpPr>
        <p:spPr>
          <a:xfrm>
            <a:off x="2697956" y="4785360"/>
            <a:ext cx="2379107" cy="297299"/>
          </a:xfrm>
          <a:prstGeom prst="rect">
            <a:avLst/>
          </a:prstGeom>
          <a:noFill/>
          <a:ln/>
        </p:spPr>
        <p:txBody>
          <a:bodyPr wrap="none" lIns="0" tIns="0" rIns="0" bIns="0" rtlCol="0" anchor="t"/>
          <a:lstStyle/>
          <a:p>
            <a:pPr algn="r" indent="0" marL="0">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Integration</a:t>
            </a:r>
            <a:endParaRPr lang="en-US" sz="1850" dirty="0"/>
          </a:p>
        </p:txBody>
      </p:sp>
      <p:pic>
        <p:nvPicPr>
          <p:cNvPr id="13" name="Image 3" descr="preencoded.png">    </p:cNvPr>
          <p:cNvPicPr>
            <a:picLocks noChangeAspect="1"/>
          </p:cNvPicPr>
          <p:nvPr/>
        </p:nvPicPr>
        <p:blipFill>
          <a:blip r:embed="rId4"/>
          <a:stretch>
            <a:fillRect/>
          </a:stretch>
        </p:blipFill>
        <p:spPr>
          <a:xfrm>
            <a:off x="5362456" y="1933575"/>
            <a:ext cx="3905488" cy="3905488"/>
          </a:xfrm>
          <a:prstGeom prst="rect">
            <a:avLst/>
          </a:prstGeom>
        </p:spPr>
      </p:pic>
      <p:sp>
        <p:nvSpPr>
          <p:cNvPr id="14" name="Text 8"/>
          <p:cNvSpPr/>
          <p:nvPr/>
        </p:nvSpPr>
        <p:spPr>
          <a:xfrm>
            <a:off x="6120884" y="4481989"/>
            <a:ext cx="151805" cy="380524"/>
          </a:xfrm>
          <a:prstGeom prst="rect">
            <a:avLst/>
          </a:prstGeom>
          <a:noFill/>
          <a:ln/>
        </p:spPr>
        <p:txBody>
          <a:bodyPr wrap="none" lIns="0" tIns="0" rIns="0" bIns="0" rtlCol="0" anchor="t"/>
          <a:lstStyle/>
          <a:p>
            <a:pPr indent="0" marL="0">
              <a:lnSpc>
                <a:spcPts val="2950"/>
              </a:lnSpc>
              <a:buNone/>
            </a:pPr>
            <a:r>
              <a:rPr lang="en-US" sz="1850" dirty="0">
                <a:solidFill>
                  <a:srgbClr val="464646"/>
                </a:solidFill>
                <a:latin typeface="DM Sans Semi Bold" pitchFamily="34" charset="0"/>
                <a:ea typeface="DM Sans Semi Bold" pitchFamily="34" charset="-122"/>
                <a:cs typeface="DM Sans Semi Bold" pitchFamily="34" charset="-120"/>
              </a:rPr>
              <a:t>4</a:t>
            </a:r>
            <a:endParaRPr lang="en-US" sz="1850" dirty="0"/>
          </a:p>
        </p:txBody>
      </p:sp>
      <p:sp>
        <p:nvSpPr>
          <p:cNvPr id="15" name="Text 9"/>
          <p:cNvSpPr/>
          <p:nvPr/>
        </p:nvSpPr>
        <p:spPr>
          <a:xfrm>
            <a:off x="666155" y="6053138"/>
            <a:ext cx="13298091" cy="1218248"/>
          </a:xfrm>
          <a:prstGeom prst="rect">
            <a:avLst/>
          </a:prstGeom>
          <a:noFill/>
          <a:ln/>
        </p:spPr>
        <p:txBody>
          <a:bodyPr wrap="square" lIns="0" tIns="0" rIns="0" bIns="0" rtlCol="0" anchor="t"/>
          <a:lstStyle/>
          <a:p>
            <a:pPr indent="0" marL="0">
              <a:lnSpc>
                <a:spcPts val="2350"/>
              </a:lnSpc>
              <a:buNone/>
            </a:pPr>
            <a:r>
              <a:rPr lang="en-US" sz="1450" dirty="0">
                <a:solidFill>
                  <a:srgbClr val="464646"/>
                </a:solidFill>
                <a:latin typeface="Inter Medium" pitchFamily="34" charset="0"/>
                <a:ea typeface="Inter Medium" pitchFamily="34" charset="-122"/>
                <a:cs typeface="Inter Medium" pitchFamily="34" charset="-120"/>
              </a:rPr>
              <a:t>We encourage you to ask any questions you may have about the Ethical Decision-Making Simulations application. The next steps involve establishing pilot programs to test the tool in real-world settings, customizing the application to meet specific organizational needs, providing comprehensive training for users, and seamlessly integrating the solution into existing workflows. Our team is dedicated to assisting you throughout the implementation process to ensure a successful deployment and maximize the value of the application.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2025-02-12T06:55:31Z</dcterms:created>
  <dcterms:modified xsi:type="dcterms:W3CDTF">2025-02-12T06:55:31Z</dcterms:modified>
</cp:coreProperties>
</file>